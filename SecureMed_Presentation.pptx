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94960" y="548640"/>
            <a:ext cx="1371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0" b="1">
                <a:solidFill>
                  <a:srgbClr val="2563EB"/>
                </a:solidFill>
              </a:defRPr>
            </a:pPr>
            <a:r>
              <a:t>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E40AF"/>
                </a:solidFill>
                <a:latin typeface="Calibri"/>
              </a:defRPr>
            </a:pPr>
            <a:r>
              <a:t>SecureMed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B7280"/>
                </a:solidFill>
                <a:latin typeface="Calibri"/>
              </a:defRPr>
            </a:pPr>
            <a:r>
              <a:t>Secure Healthcare Records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D9488"/>
                </a:solidFill>
                <a:latin typeface="Calibri"/>
              </a:defRPr>
            </a:pPr>
            <a:r>
              <a:t>Secure Software Design and Engineering Project - DevSecOps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937760"/>
            <a:ext cx="246888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246888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100" b="0">
                <a:solidFill>
                  <a:srgbClr val="111827"/>
                </a:solidFill>
              </a:defRPr>
            </a:pPr>
            <a:r>
              <a:t>DevSecOps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4937760"/>
            <a:ext cx="246888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Technologies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5257800"/>
            <a:ext cx="246888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100" b="0">
                <a:solidFill>
                  <a:srgbClr val="111827"/>
                </a:solidFill>
              </a:defRPr>
            </a:pPr>
            <a:r>
              <a:t>Django + React + Kotlin + PostgreSQL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4937760"/>
            <a:ext cx="246888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Deliverables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5257800"/>
            <a:ext cx="246888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100" b="0">
                <a:solidFill>
                  <a:srgbClr val="111827"/>
                </a:solidFill>
              </a:defRPr>
            </a:pPr>
            <a:r>
              <a:t>Web App + Android App + CI/CD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4937760"/>
            <a:ext cx="246888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Year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5257800"/>
            <a:ext cx="246888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100" b="0">
                <a:solidFill>
                  <a:srgbClr val="111827"/>
                </a:solidFill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Healthcare data security challenges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05740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SecureMed platform &amp;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97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Requirements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63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Doctor's 4-step plan + 6 security conditions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2900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49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Three-tier architecture &amp; tech stack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11480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69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Security 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434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All 6 security requirements in detail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80060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DevSecOps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120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7-stage CI/CD with security scanning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48640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440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Demo &amp; Conclusion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806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Key takeaways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Problem: Healthcare Data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743200" cy="82296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$10.93M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Average cost of a</a:t>
            </a:r>
            <a:br/>
            <a:r>
              <a:t>healthcare data breach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71600"/>
            <a:ext cx="2743200" cy="8229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300B+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286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Global Healthcare</a:t>
            </a:r>
            <a:br/>
            <a:r>
              <a:t>IT market size (USD)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2743200" cy="8229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HIPAA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Compliance required</a:t>
            </a:r>
            <a:br/>
            <a:r>
              <a:t>for patient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371600"/>
            <a:ext cx="2743200" cy="8229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MFA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286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Multi-factor auth</a:t>
            </a:r>
            <a:br/>
            <a:r>
              <a:t>becoming mandatory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00400"/>
            <a:ext cx="11247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Calibri"/>
              </a:defRPr>
            </a:pPr>
            <a:r>
              <a:t>Key Challenges in Healthcare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94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Lack of granular access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69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Most EHR systems use coarse-grained permissions, exposing patient data to staff who don't need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434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Weak authentication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709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Password-only authentication is vulnerable to phishing, brute force, and credential stuffing attacks.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20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074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No mobile point-of-care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349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Medical staff need secure mobile access, but traditional web apps can't provide biometric authentication.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60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715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Limited audit logging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989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Many systems lack comprehensive audit trails, making breach detection and forensics difficult.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Overview: SecureMed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827"/>
                </a:solidFill>
                <a:latin typeface="Calibri"/>
              </a:defRPr>
            </a:pPr>
            <a:r>
              <a:t>A secure cloud platform for managing electronic health records (EHR) that enables medical staff to collaborate on patient cases with strict access control, biometric authentication, and full DevSecOps integration.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365760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Web App</a:t>
            </a:r>
            <a:br/>
            <a:r>
              <a:t>Django + React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365760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200" b="0">
                <a:solidFill>
                  <a:srgbClr val="111827"/>
                </a:solidFill>
              </a:defRPr>
            </a:pPr>
            <a:r>
              <a:t>  ✓  Admin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43400"/>
            <a:ext cx="365760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200" b="0">
                <a:solidFill>
                  <a:srgbClr val="111827"/>
                </a:solidFill>
              </a:defRPr>
            </a:pPr>
            <a:r>
              <a:t>  ✓  User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46320"/>
            <a:ext cx="365760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200" b="0">
                <a:solidFill>
                  <a:srgbClr val="111827"/>
                </a:solidFill>
              </a:defRPr>
            </a:pPr>
            <a:r>
              <a:t>  ✓  Security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349240"/>
            <a:ext cx="365760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200" b="0">
                <a:solidFill>
                  <a:srgbClr val="111827"/>
                </a:solidFill>
              </a:defRPr>
            </a:pPr>
            <a:r>
              <a:t>  ✓  Audit logs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017520"/>
            <a:ext cx="365760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Android App</a:t>
            </a:r>
            <a:br/>
            <a:r>
              <a:t>Kotlin + Compose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840480"/>
            <a:ext cx="365760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200" b="0">
                <a:solidFill>
                  <a:srgbClr val="111827"/>
                </a:solidFill>
              </a:defRPr>
            </a:pPr>
            <a:r>
              <a:t>  ✓  Biometric login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343400"/>
            <a:ext cx="365760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200" b="0">
                <a:solidFill>
                  <a:srgbClr val="111827"/>
                </a:solidFill>
              </a:defRPr>
            </a:pPr>
            <a:r>
              <a:t>  ✓  Patient cases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846320"/>
            <a:ext cx="365760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200" b="0">
                <a:solidFill>
                  <a:srgbClr val="111827"/>
                </a:solidFill>
              </a:defRPr>
            </a:pPr>
            <a:r>
              <a:t>  ✓  Medical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5349240"/>
            <a:ext cx="365760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200" b="0">
                <a:solidFill>
                  <a:srgbClr val="111827"/>
                </a:solidFill>
              </a:defRPr>
            </a:pPr>
            <a:r>
              <a:t>  ✓  Point-of-care access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017520"/>
            <a:ext cx="365760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DevSecOps</a:t>
            </a:r>
            <a:br/>
            <a:r>
              <a:t>CI/CD Pipeline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840480"/>
            <a:ext cx="365760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200" b="0">
                <a:solidFill>
                  <a:srgbClr val="111827"/>
                </a:solidFill>
              </a:defRPr>
            </a:pPr>
            <a:r>
              <a:t>  ✓  SAST (Semgrep)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343400"/>
            <a:ext cx="365760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200" b="0">
                <a:solidFill>
                  <a:srgbClr val="111827"/>
                </a:solidFill>
              </a:defRPr>
            </a:pPr>
            <a:r>
              <a:t>  ✓  DAST (OWASP ZAP)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846320"/>
            <a:ext cx="365760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200" b="0">
                <a:solidFill>
                  <a:srgbClr val="111827"/>
                </a:solidFill>
              </a:defRPr>
            </a:pPr>
            <a:r>
              <a:t>  ✓  Container scan (Trivy)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5349240"/>
            <a:ext cx="365760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200" b="0">
                <a:solidFill>
                  <a:srgbClr val="111827"/>
                </a:solidFill>
              </a:defRPr>
            </a:pPr>
            <a:r>
              <a:t>  ✓  Auto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Requirements: Doctor's 4-Step Plan</a:t>
            </a:r>
          </a:p>
        </p:txBody>
      </p:sp>
      <p:sp>
        <p:nvSpPr>
          <p:cNvPr id="4" name="Oval 3"/>
          <p:cNvSpPr/>
          <p:nvPr/>
        </p:nvSpPr>
        <p:spPr>
          <a:xfrm>
            <a:off x="365760" y="137160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Visibility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User must be channel</a:t>
            </a:r>
            <a:br/>
            <a:r>
              <a:t>owner or member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651760"/>
            <a:ext cx="27432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000" b="0">
                <a:solidFill>
                  <a:srgbClr val="111827"/>
                </a:solidFill>
              </a:defRPr>
            </a:pPr>
            <a:r>
              <a:t>apps/channels/models.py:</a:t>
            </a:r>
            <a:br/>
            <a:r>
              <a:t>can_view() method</a:t>
            </a:r>
          </a:p>
        </p:txBody>
      </p:sp>
      <p:sp>
        <p:nvSpPr>
          <p:cNvPr id="8" name="Oval 7"/>
          <p:cNvSpPr/>
          <p:nvPr/>
        </p:nvSpPr>
        <p:spPr>
          <a:xfrm>
            <a:off x="3337560" y="137160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Permissions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737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Grant / Modify / Revoke /</a:t>
            </a:r>
            <a:br/>
            <a:r>
              <a:t>Cancel Membership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651760"/>
            <a:ext cx="27432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000" b="0">
                <a:solidFill>
                  <a:srgbClr val="111827"/>
                </a:solidFill>
              </a:defRPr>
            </a:pPr>
            <a:r>
              <a:t>apps/channels/views.py:</a:t>
            </a:r>
            <a:br/>
            <a:r>
              <a:t>4 dedicated endpoints</a:t>
            </a:r>
          </a:p>
        </p:txBody>
      </p:sp>
      <p:sp>
        <p:nvSpPr>
          <p:cNvPr id="12" name="Oval 11"/>
          <p:cNvSpPr/>
          <p:nvPr/>
        </p:nvSpPr>
        <p:spPr>
          <a:xfrm>
            <a:off x="6309360" y="137160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DV (Data View)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737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Each user has ONE role</a:t>
            </a:r>
            <a:br/>
            <a:r>
              <a:t>per channel (no overlap)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651760"/>
            <a:ext cx="27432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000" b="0">
                <a:solidFill>
                  <a:srgbClr val="111827"/>
                </a:solidFill>
              </a:defRPr>
            </a:pPr>
            <a:r>
              <a:t>ChannelMembership:</a:t>
            </a:r>
            <a:br/>
            <a:r>
              <a:t>unique_together constraint</a:t>
            </a:r>
          </a:p>
        </p:txBody>
      </p:sp>
      <p:sp>
        <p:nvSpPr>
          <p:cNvPr id="16" name="Oval 15"/>
          <p:cNvSpPr/>
          <p:nvPr/>
        </p:nvSpPr>
        <p:spPr>
          <a:xfrm>
            <a:off x="9281160" y="137160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2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DB: Fingerprint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04120" y="1737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Biometric login +</a:t>
            </a:r>
            <a:br/>
            <a:r>
              <a:t>biometric-based auth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2651760"/>
            <a:ext cx="27432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000" b="0">
                <a:solidFill>
                  <a:srgbClr val="111827"/>
                </a:solidFill>
              </a:defRPr>
            </a:pPr>
            <a:r>
              <a:t>BiometricProfile +</a:t>
            </a:r>
            <a:br/>
            <a:r>
              <a:t>BiometricLoginView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All four steps implemented and verified in the SecureMed codebase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6 Security Requirements - All Implemented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Cookie Flags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HttpOnly + Secure</a:t>
            </a:r>
            <a:br/>
            <a:r>
              <a:t>+ SameSite=Strict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329184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000" b="0">
                <a:solidFill>
                  <a:srgbClr val="111827"/>
                </a:solidFill>
              </a:defRPr>
            </a:pPr>
            <a:r>
              <a:t>config/settings.py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1554480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Port Scanner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TCP connect scan</a:t>
            </a:r>
            <a:br/>
            <a:r>
              <a:t>30+ common 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926080"/>
            <a:ext cx="3291840" cy="548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000" b="0">
                <a:solidFill>
                  <a:srgbClr val="111827"/>
                </a:solidFill>
              </a:defRPr>
            </a:pPr>
            <a:r>
              <a:t>apps/security/</a:t>
            </a:r>
            <a:br/>
            <a:r>
              <a:t>port_scanner.py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1554480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Encrypted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JWT RS256 + AES-256</a:t>
            </a:r>
            <a:br/>
            <a:r>
              <a:t>for sensitive fields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926080"/>
            <a:ext cx="329184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000" b="0">
                <a:solidFill>
                  <a:srgbClr val="111827"/>
                </a:solidFill>
              </a:defRPr>
            </a:pPr>
            <a:r>
              <a:t>apps/security/</a:t>
            </a:r>
            <a:br/>
            <a:r>
              <a:t>crypto.py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84048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Vulnerability Scanner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634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OWASP Top 10</a:t>
            </a:r>
            <a:br/>
            <a:r>
              <a:t>12 vulnerability checks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94960"/>
            <a:ext cx="3291840" cy="548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000" b="0">
                <a:solidFill>
                  <a:srgbClr val="111827"/>
                </a:solidFill>
              </a:defRPr>
            </a:pPr>
            <a:r>
              <a:t>apps/security/</a:t>
            </a:r>
            <a:br/>
            <a:r>
              <a:t>vulnerability_scanner.py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84048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80560" y="4023360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Database Firewall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6634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WAF Middleware</a:t>
            </a:r>
            <a:br/>
            <a:r>
              <a:t>SQL/XSS/Path traversal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5394960"/>
            <a:ext cx="329184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000" b="0">
                <a:solidFill>
                  <a:srgbClr val="111827"/>
                </a:solidFill>
              </a:defRPr>
            </a:pPr>
            <a:r>
              <a:t>apps/security/</a:t>
            </a:r>
            <a:br/>
            <a:r>
              <a:t>middleware.py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84048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12480" y="4023360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TLS Encryption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6634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DV&lt;-&gt;DB encrypted</a:t>
            </a:r>
            <a:br/>
            <a:r>
              <a:t>TLS 1.3 + HSTS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5394960"/>
            <a:ext cx="3291840" cy="548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 bIns="76200"/>
          <a:lstStyle/>
          <a:p>
            <a:pPr algn="l">
              <a:defRPr sz="1000" b="0">
                <a:solidFill>
                  <a:srgbClr val="111827"/>
                </a:solidFill>
              </a:defRPr>
            </a:pPr>
            <a:r>
              <a:t>config/settings.py</a:t>
            </a:r>
            <a:br/>
            <a:r>
              <a:t>(sslmode=require)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1280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Presentation Tier (Clients)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474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Web App</a:t>
            </a:r>
            <a:br/>
            <a:r>
              <a:t>React + TypeScript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920240"/>
            <a:ext cx="347472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Android App</a:t>
            </a:r>
            <a:br/>
            <a:r>
              <a:t>Kotlin + Compose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920240"/>
            <a:ext cx="347472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Admin Dashboard</a:t>
            </a:r>
            <a:br/>
            <a:r>
              <a:t>Tailwind + Zustand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7432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HTTPS / TLS 1.3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11247120" cy="12801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Calibri"/>
              </a:defRPr>
            </a:pPr>
            <a:r>
              <a:t>Application Tier (Backend)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49040"/>
            <a:ext cx="274320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Django 5 + DRF</a:t>
            </a:r>
            <a:br/>
            <a:r>
              <a:t>REST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3749040"/>
            <a:ext cx="2743200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JWT RS256</a:t>
            </a:r>
            <a:br/>
            <a:r>
              <a:t>Auth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3749040"/>
            <a:ext cx="274320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WAF Middleware</a:t>
            </a:r>
            <a:br/>
            <a:r>
              <a:t>Security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3749040"/>
            <a:ext cx="219456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Audit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572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TLS + SSL (sslmode=require)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29200"/>
            <a:ext cx="11247120" cy="12801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Data Tier (Storage)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577840"/>
            <a:ext cx="347472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PostgreSQL 16</a:t>
            </a:r>
            <a:br/>
            <a:r>
              <a:t>Row-Level Security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5577840"/>
            <a:ext cx="3474720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AES-256</a:t>
            </a:r>
            <a:br/>
            <a:r>
              <a:t>Encrypted Fields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5577840"/>
            <a:ext cx="347472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Audit Logs</a:t>
            </a:r>
            <a:br/>
            <a:r>
              <a:t>(encryption at rest)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DevSecOps Pipeline (7 Stages)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46304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1554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SAST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Semgrep + SonarQube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Static code analysis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874520" y="2743200"/>
            <a:ext cx="18288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60320" y="146304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2103120"/>
            <a:ext cx="1554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9488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560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Bandit + Safety + pytest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Python security + tests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66160" y="2743200"/>
            <a:ext cx="18288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51960" y="146304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40" y="2103120"/>
            <a:ext cx="1554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560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ESLint + npm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JS security + deps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57800" y="2743200"/>
            <a:ext cx="18288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3600" y="146304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2103120"/>
            <a:ext cx="1554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212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Calibri"/>
              </a:defRPr>
            </a:pPr>
            <a:r>
              <a:t>Android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2560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Gradle + MobSF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APK + mobile scan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949440" y="2743200"/>
            <a:ext cx="18288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635240" y="1463040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0" y="2103120"/>
            <a:ext cx="1554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2626"/>
                </a:solidFill>
                <a:latin typeface="Calibri"/>
              </a:defRPr>
            </a:pPr>
            <a:r>
              <a:t>Container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560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Trivy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Docker image scan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641080" y="2743200"/>
            <a:ext cx="18288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26880" y="1463040"/>
            <a:ext cx="548640" cy="5486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23960" y="2103120"/>
            <a:ext cx="1554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1540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C4899"/>
                </a:solidFill>
                <a:latin typeface="Calibri"/>
              </a:defRPr>
            </a:pPr>
            <a:r>
              <a:t>DAST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2560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OWASP ZAP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Runtime testing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0332720" y="2743200"/>
            <a:ext cx="18288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018520" y="14630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15600" y="2103120"/>
            <a:ext cx="1554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0704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2560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GitHub Release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Auto release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114800"/>
            <a:ext cx="11247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Calibri"/>
              </a:defRPr>
            </a:pPr>
            <a:r>
              <a:t>Pipeline Features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4754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4754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Runs on every push, PR, and daily cron schedule (continuous security)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029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720" y="5029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Uses 6+ open-source security tools (Semgrep, Bandit, Safety, ESLint, Trivy, ZAP)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303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88720" y="5303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SARIF reports uploaded to GitHub Security tab for visibility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5577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88720" y="5577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Automatic release creation with APK artifact on main branch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5852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88720" y="5852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Fail-fast: critical vulnerabilities block deployment to production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6126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88720" y="6126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Defense in depth: SAST + DAST + container scan + dependency check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74320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27432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Django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Python web 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880360"/>
            <a:ext cx="27432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26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DRF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REST API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749040"/>
            <a:ext cx="27432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794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Encrypted database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17720"/>
            <a:ext cx="27432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663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JWT RS256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83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Asymmetric auth tokens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486400"/>
            <a:ext cx="27432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532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Redis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52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Caching &amp; rate limiting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1371600"/>
            <a:ext cx="274320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2011680"/>
            <a:ext cx="27432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2057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React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Component-based 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2880360"/>
            <a:ext cx="27432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2926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246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Type-safe JavaScript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3749040"/>
            <a:ext cx="27432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3794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Tailwind CSS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Utility-first styling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4617720"/>
            <a:ext cx="27432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4663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Zustand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983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State management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5486400"/>
            <a:ext cx="27432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5532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React Query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852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Server state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1371600"/>
            <a:ext cx="274320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Mobile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2011680"/>
            <a:ext cx="27432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057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Kotlin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Modern Android lang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2880360"/>
            <a:ext cx="27432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2926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Jetpack Compose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3246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Declarative UI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3749040"/>
            <a:ext cx="27432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3794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Biometric 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Fingerprint auth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0" y="4617720"/>
            <a:ext cx="27432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4663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EncryptedPrefs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4983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Secure storage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60" y="5486400"/>
            <a:ext cx="27432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5532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Retrofit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5852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HTTP client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81160" y="1371600"/>
            <a:ext cx="274320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DevOps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281160" y="2011680"/>
            <a:ext cx="27432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18320" y="2057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GitHub Actions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CI/CD pipeline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81160" y="2880360"/>
            <a:ext cx="27432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18320" y="2926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20" y="3246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Containerization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281160" y="3749040"/>
            <a:ext cx="27432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18320" y="3794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Semgrep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1832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SAST scanner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281160" y="4617720"/>
            <a:ext cx="27432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18320" y="4663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Trivy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18320" y="4983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Container scanner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281160" y="5486400"/>
            <a:ext cx="27432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18320" y="5532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OWASP ZAP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18320" y="5852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DAST scanner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FDBFE"/>
                </a:solidFill>
                <a:latin typeface="Calibri"/>
              </a:defRPr>
            </a:pPr>
            <a:r>
              <a:t>SecureMed successfully addresses all course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743200"/>
            <a:ext cx="27432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Doctor's Requirements</a:t>
            </a:r>
            <a:br/>
            <a:r>
              <a:t>Implemented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2743200"/>
            <a:ext cx="27432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6/6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3931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Security Conditions</a:t>
            </a:r>
            <a:br/>
            <a:r>
              <a:t>Active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743200"/>
            <a:ext cx="2743200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931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DevSecOps Stages</a:t>
            </a:r>
            <a:br/>
            <a:r>
              <a:t>Automated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35440" y="2743200"/>
            <a:ext cx="274320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3931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Platforms</a:t>
            </a:r>
            <a:br/>
            <a:r>
              <a:t>Web + Android +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577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5778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Production-ready healthcare platform with HIPAA-compliant security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897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8978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Biometric authentication via Android BiometricPrompt API + WebAuthn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217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62179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Complete DevSecOps pipeline with shift-left security at every stage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537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6537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Modular architecture suitable for academic &amp; production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